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119fecb8a4497d" /><Relationship Type="http://schemas.openxmlformats.org/officeDocument/2006/relationships/extended-properties" Target="/docProps/app.xml" Id="Rbe77fccf735d43f7" /><Relationship Type="http://schemas.openxmlformats.org/officeDocument/2006/relationships/officeDocument" Target="/ppt/presentation.xml" Id="R2fcdcbb707b74b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04c493c2b40ff"/>
  </p:sldMasterIdLst>
  <p:notesMasterIdLst>
    <p:notesMasterId xmlns:r="http://schemas.openxmlformats.org/officeDocument/2006/relationships" r:id="R0e740e8b9ab447d9"/>
  </p:notesMasterIdLst>
  <p:sldIdLst>
    <p:sldId xmlns:r="http://schemas.openxmlformats.org/officeDocument/2006/relationships" id="256" r:id="R7fd2cb79597848b0"/>
    <p:sldId xmlns:r="http://schemas.openxmlformats.org/officeDocument/2006/relationships" id="257" r:id="R08339c5ab55a4067"/>
    <p:sldId xmlns:r="http://schemas.openxmlformats.org/officeDocument/2006/relationships" id="258" r:id="R439b74824abc42a4"/>
    <p:sldId xmlns:r="http://schemas.openxmlformats.org/officeDocument/2006/relationships" id="259" r:id="R8bedc99a33df428f"/>
    <p:sldId xmlns:r="http://schemas.openxmlformats.org/officeDocument/2006/relationships" id="260" r:id="R1e60fffb6fde49fe"/>
    <p:sldId xmlns:r="http://schemas.openxmlformats.org/officeDocument/2006/relationships" id="261" r:id="R6db2850050a34ae7"/>
    <p:sldId xmlns:r="http://schemas.openxmlformats.org/officeDocument/2006/relationships" id="262" r:id="Redf93ec7132c4a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d40dd2b7c423c" /><Relationship Type="http://schemas.openxmlformats.org/officeDocument/2006/relationships/slideMaster" Target="/ppt/slideMasters/slideMaster1.xml" Id="R4e204c493c2b40ff" /><Relationship Type="http://schemas.openxmlformats.org/officeDocument/2006/relationships/notesMaster" Target="/ppt/notesMasters/notesMaster1.xml" Id="R0e740e8b9ab447d9" /><Relationship Type="http://schemas.openxmlformats.org/officeDocument/2006/relationships/presProps" Target="/ppt/presProps.xml" Id="R80e8e049194040d0" /><Relationship Type="http://schemas.openxmlformats.org/officeDocument/2006/relationships/viewProps" Target="/ppt/viewProps.xml" Id="Rf44d6d5adcab4d95" /><Relationship Type="http://schemas.openxmlformats.org/officeDocument/2006/relationships/tableStyles" Target="/ppt/tableStyles.xml" Id="R93e9475e6f704652" /><Relationship Type="http://schemas.openxmlformats.org/officeDocument/2006/relationships/slide" Target="/ppt/slides/slide1.xml" Id="R7fd2cb79597848b0" /><Relationship Type="http://schemas.openxmlformats.org/officeDocument/2006/relationships/slide" Target="/ppt/slides/slide2.xml" Id="R08339c5ab55a4067" /><Relationship Type="http://schemas.openxmlformats.org/officeDocument/2006/relationships/slide" Target="/ppt/slides/slide3.xml" Id="R439b74824abc42a4" /><Relationship Type="http://schemas.openxmlformats.org/officeDocument/2006/relationships/slide" Target="/ppt/slides/slide4.xml" Id="R8bedc99a33df428f" /><Relationship Type="http://schemas.openxmlformats.org/officeDocument/2006/relationships/slide" Target="/ppt/slides/slide5.xml" Id="R1e60fffb6fde49fe" /><Relationship Type="http://schemas.openxmlformats.org/officeDocument/2006/relationships/slide" Target="/ppt/slides/slide6.xml" Id="R6db2850050a34ae7" /><Relationship Type="http://schemas.openxmlformats.org/officeDocument/2006/relationships/slide" Target="/ppt/slides/slide7.xml" Id="Redf93ec7132c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2c929679d4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2432055774c7f" /><Relationship Type="http://schemas.openxmlformats.org/officeDocument/2006/relationships/notesMaster" Target="/ppt/notesMasters/notesMaster1.xml" Id="Rbf9cfd4cf719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9dddb425fa48ba" /><Relationship Type="http://schemas.openxmlformats.org/officeDocument/2006/relationships/notesMaster" Target="/ppt/notesMasters/notesMaster1.xml" Id="Rd9e46b7992354f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5e9e2cd484a08" /><Relationship Type="http://schemas.openxmlformats.org/officeDocument/2006/relationships/notesMaster" Target="/ppt/notesMasters/notesMaster1.xml" Id="R3288af3d1b8c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e590365444593" /><Relationship Type="http://schemas.openxmlformats.org/officeDocument/2006/relationships/notesMaster" Target="/ppt/notesMasters/notesMaster1.xml" Id="R11080308f7bc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828719e21f4c85" /><Relationship Type="http://schemas.openxmlformats.org/officeDocument/2006/relationships/notesMaster" Target="/ppt/notesMasters/notesMaster1.xml" Id="R9828248a08974c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d31a01d2b41e4" /><Relationship Type="http://schemas.openxmlformats.org/officeDocument/2006/relationships/notesMaster" Target="/ppt/notesMasters/notesMaster1.xml" Id="Rcd29832f3957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cc91c7ef34937" /><Relationship Type="http://schemas.openxmlformats.org/officeDocument/2006/relationships/notesMaster" Target="/ppt/notesMasters/notesMaster1.xml" Id="Rf378119b791f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c97312be14f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55228fa794954" /><Relationship Type="http://schemas.openxmlformats.org/officeDocument/2006/relationships/slideLayout" Target="/ppt/slideLayouts/slideLayout1.xml" Id="Raff339bed91b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f339bed91b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6dbbb45fa4c22" /><Relationship Type="http://schemas.openxmlformats.org/officeDocument/2006/relationships/image" Target="/ppt/media/image.png" Id="Rd02ddaf626b34585" /><Relationship Type="http://schemas.openxmlformats.org/officeDocument/2006/relationships/notesSlide" Target="/ppt/notesSlides/notesSlide1.xml" Id="R441950237fa8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00fc736d94c7f" /><Relationship Type="http://schemas.openxmlformats.org/officeDocument/2006/relationships/notesSlide" Target="/ppt/notesSlides/notesSlide2.xml" Id="R8dad1075d1484a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e44a142d8478b" /><Relationship Type="http://schemas.openxmlformats.org/officeDocument/2006/relationships/image" Target="/ppt/media/image2.png" Id="Rc535fb875bdf4a4d" /><Relationship Type="http://schemas.openxmlformats.org/officeDocument/2006/relationships/notesSlide" Target="/ppt/notesSlides/notesSlide3.xml" Id="R1a6dd6d58e9340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7ce9827e14666" /><Relationship Type="http://schemas.openxmlformats.org/officeDocument/2006/relationships/image" Target="/ppt/media/image3.png" Id="R34296b68197d4c59" /><Relationship Type="http://schemas.openxmlformats.org/officeDocument/2006/relationships/notesSlide" Target="/ppt/notesSlides/notesSlide4.xml" Id="R808ba13fdbed42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146fabe5f4a8d" /><Relationship Type="http://schemas.openxmlformats.org/officeDocument/2006/relationships/image" Target="/ppt/media/image4.png" Id="R08619e1325bb4f33" /><Relationship Type="http://schemas.openxmlformats.org/officeDocument/2006/relationships/notesSlide" Target="/ppt/notesSlides/notesSlide5.xml" Id="Ra3d8391dbd6d4c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037cb7144541" /><Relationship Type="http://schemas.openxmlformats.org/officeDocument/2006/relationships/image" Target="/ppt/media/image5.png" Id="R6b8e41fc312c4a53" /><Relationship Type="http://schemas.openxmlformats.org/officeDocument/2006/relationships/notesSlide" Target="/ppt/notesSlides/notesSlide6.xml" Id="R41e5259292e942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b30a8f414ee7" /><Relationship Type="http://schemas.openxmlformats.org/officeDocument/2006/relationships/image" Target="/ppt/media/image6.png" Id="Rd004afe9840844de" /><Relationship Type="http://schemas.openxmlformats.org/officeDocument/2006/relationships/notesSlide" Target="/ppt/notesSlides/notesSlide7.xml" Id="R8425dc3d1ae246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ddaf626b34585"/>
          <a:srcRect xmlns:a="http://schemas.openxmlformats.org/drawingml/2006/main" l="20994" t="0" r="209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7C82875-FB71-4865-8A88-B35C15C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 w="0">
            <a:solidFill>
              <a:srgbClr val="F7F1EA"/>
            </a:solidFill>
            <a:prstDash val="solid"/>
          </a:ln>
        </p:spPr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E95106B3-B122-4C50-A51B-822D468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A733E35-306E-4424-9335-A7F3007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PRODUCT INTRODUCTION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0153839-C4D2-46F2-AF0C-6D7E99F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記憶管理AIアプリ</a:t>
            </a:r>
          </a:p>
          <a:p xmlns:a="http://schemas.openxmlformats.org/drawingml/2006/main">
            <a:pPr algn="l">
              <a:defRPr sz="40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メモリル</a:t>
            </a:r>
          </a:p>
        </p:txBody>
      </p:sp>
      <p:sp>
        <p:nvSpPr>
          <p:cNvPr id="6" name="cover-body">
            <a:extLst xmlns:a="http://schemas.openxmlformats.org/drawingml/2006/main">
              <a:ext uri="{FF2B5EF4-FFF2-40B4-BE49-F238E27FC236}">
                <a16:creationId xmlns:a16="http://schemas.microsoft.com/office/drawing/2014/main" id="{5D10EBE1-9540-4C79-8542-D4582663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171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会話から、未来に残せる人生データへ</a:t>
            </a:r>
          </a:p>
          <a:p xmlns:a="http://schemas.openxmlformats.org/drawingml/2006/main">
            <a:pPr algn="l">
              <a:defRPr sz="142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日々の感情・出来事・文脈を、あとから探索できる形で蓄積します。</a:t>
            </a:r>
          </a:p>
        </p:txBody>
      </p:sp>
      <p:sp>
        <p:nvSpPr>
          <p:cNvPr id="7" name="chip-1">
            <a:extLst xmlns:a="http://schemas.openxmlformats.org/drawingml/2006/main">
              <a:ext uri="{FF2B5EF4-FFF2-40B4-BE49-F238E27FC236}">
                <a16:creationId xmlns:a16="http://schemas.microsoft.com/office/drawing/2014/main" id="{83C911CC-73F7-46F2-B227-3709270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8" name="chip-1-text">
            <a:extLst xmlns:a="http://schemas.openxmlformats.org/drawingml/2006/main">
              <a:ext uri="{FF2B5EF4-FFF2-40B4-BE49-F238E27FC236}">
                <a16:creationId xmlns:a16="http://schemas.microsoft.com/office/drawing/2014/main" id="{32C161A7-3CA4-40C8-B515-7F96D32A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会話で残す</a:t>
            </a:r>
          </a:p>
        </p:txBody>
      </p:sp>
      <p:sp>
        <p:nvSpPr>
          <p:cNvPr id="9" name="chip-2">
            <a:extLst xmlns:a="http://schemas.openxmlformats.org/drawingml/2006/main">
              <a:ext uri="{FF2B5EF4-FFF2-40B4-BE49-F238E27FC236}">
                <a16:creationId xmlns:a16="http://schemas.microsoft.com/office/drawing/2014/main" id="{81CEE51E-3D36-458D-B748-EC31C2E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10" name="chip-2-text">
            <a:extLst xmlns:a="http://schemas.openxmlformats.org/drawingml/2006/main">
              <a:ext uri="{FF2B5EF4-FFF2-40B4-BE49-F238E27FC236}">
                <a16:creationId xmlns:a16="http://schemas.microsoft.com/office/drawing/2014/main" id="{6EFCC83F-4B63-4F69-81FC-637916A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338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感情で整理</a:t>
            </a:r>
          </a:p>
        </p:txBody>
      </p:sp>
      <p:sp>
        <p:nvSpPr>
          <p:cNvPr id="11" name="chip-3">
            <a:extLst xmlns:a="http://schemas.openxmlformats.org/drawingml/2006/main">
              <a:ext uri="{FF2B5EF4-FFF2-40B4-BE49-F238E27FC236}">
                <a16:creationId xmlns:a16="http://schemas.microsoft.com/office/drawing/2014/main" id="{A3033E06-7398-4B51-A424-8E8CD853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12" name="chip-3-text">
            <a:extLst xmlns:a="http://schemas.openxmlformats.org/drawingml/2006/main">
              <a:ext uri="{FF2B5EF4-FFF2-40B4-BE49-F238E27FC236}">
                <a16:creationId xmlns:a16="http://schemas.microsoft.com/office/drawing/2014/main" id="{888A43FA-72D5-46CA-A47C-B6175FD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33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秘匿記憶を保護</a:t>
            </a:r>
          </a:p>
        </p:txBody>
      </p:sp>
      <p:sp>
        <p:nvSpPr>
          <p:cNvPr id="13" name="cover-rail">
            <a:extLst xmlns:a="http://schemas.openxmlformats.org/drawingml/2006/main">
              <a:ext uri="{FF2B5EF4-FFF2-40B4-BE49-F238E27FC236}">
                <a16:creationId xmlns:a16="http://schemas.microsoft.com/office/drawing/2014/main" id="{6D616E53-2812-483E-99B7-748F3395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1915"/>
                </a:solidFill>
                <a:latin typeface="Aptos"/>
                <a:ea typeface="Aptos"/>
                <a:cs typeface="Aptos"/>
              </a:rPr>
              <a:t>記録 -&gt; 構造化 -&gt; 探索 -&gt; 分身AI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02228A-3F77-485A-A551-B5758933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C62ACE4-83BF-482D-9432-5E8C25C8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Source: メモリルLP / memory-space設計 / generated concept visuals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45A40-7520-4B54-8027-A5AACF42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15436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3240359-F146-43E1-8FE1-5615798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D91233F4-3695-449A-9CD7-E21ABBF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3718133-B0CB-4BD2-A9AD-2B04C706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E27F6004-4CE6-4998-9E55-399B4698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思い出は残っても、</a:t>
            </a:r>
          </a:p>
          <a:p xmlns:a="http://schemas.openxmlformats.org/drawingml/2006/main">
            <a:pPr algn="l">
              <a:def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気持ちは残りにくい</a:t>
            </a:r>
          </a:p>
        </p:txBody>
      </p:sp>
      <p:sp>
        <p:nvSpPr>
          <p:cNvPr id="5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859657F6-094A-4C07-98D0-A795ACA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必要なのは、残すことではなく、</a:t>
            </a:r>
          </a:p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あとで思い出せる形で積み上げることです。</a:t>
            </a:r>
          </a:p>
        </p:txBody>
      </p:sp>
      <p:sp>
        <p:nvSpPr>
          <p:cNvPr id="6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A3B60A34-CF03-4E0A-ADBF-4A3C720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457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7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9B5FC44D-2E7F-4D53-923A-66225EF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57250"/>
            <a:ext cx="6019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8" name="problem-card-1-title">
            <a:extLst xmlns:a="http://schemas.openxmlformats.org/drawingml/2006/main">
              <a:ext uri="{FF2B5EF4-FFF2-40B4-BE49-F238E27FC236}">
                <a16:creationId xmlns:a16="http://schemas.microsoft.com/office/drawing/2014/main" id="{2DF11422-CFEE-4A57-9523-4D44F3D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09650"/>
            <a:ext cx="567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続かない記録</a:t>
            </a:r>
          </a:p>
        </p:txBody>
      </p:sp>
      <p:sp>
        <p:nvSpPr>
          <p:cNvPr id="9" name="problem-card-1-body">
            <a:extLst xmlns:a="http://schemas.openxmlformats.org/drawingml/2006/main">
              <a:ext uri="{FF2B5EF4-FFF2-40B4-BE49-F238E27FC236}">
                <a16:creationId xmlns:a16="http://schemas.microsoft.com/office/drawing/2014/main" id="{E65FFE20-C1A0-4979-A955-00E9288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90650"/>
            <a:ext cx="567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日記は負荷が高く、忙しい日ほど残したいことが途切れやすい。</a:t>
            </a:r>
          </a:p>
        </p:txBody>
      </p:sp>
      <p:sp>
        <p:nvSpPr>
          <p:cNvPr id="10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F88E55BB-30E0-48CB-AB1C-BB7A2C27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6019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2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1" name="problem-card-2-title">
            <a:extLst xmlns:a="http://schemas.openxmlformats.org/drawingml/2006/main">
              <a:ext uri="{FF2B5EF4-FFF2-40B4-BE49-F238E27FC236}">
                <a16:creationId xmlns:a16="http://schemas.microsoft.com/office/drawing/2014/main" id="{5BD835FD-1316-4D2D-A26B-62CC41D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567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文脈がこぼれる</a:t>
            </a:r>
          </a:p>
        </p:txBody>
      </p:sp>
      <p:sp>
        <p:nvSpPr>
          <p:cNvPr id="12" name="problem-card-2-body">
            <a:extLst xmlns:a="http://schemas.openxmlformats.org/drawingml/2006/main">
              <a:ext uri="{FF2B5EF4-FFF2-40B4-BE49-F238E27FC236}">
                <a16:creationId xmlns:a16="http://schemas.microsoft.com/office/drawing/2014/main" id="{5FC05B28-46D4-4C4B-8A42-955EE0F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567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写真やメモだけでは、その時の感情や背景が後から抜け落ちる。</a:t>
            </a:r>
          </a:p>
        </p:txBody>
      </p:sp>
      <p:sp>
        <p:nvSpPr>
          <p:cNvPr id="13" name="problem-card-3">
            <a:extLst xmlns:a="http://schemas.openxmlformats.org/drawingml/2006/main">
              <a:ext uri="{FF2B5EF4-FFF2-40B4-BE49-F238E27FC236}">
                <a16:creationId xmlns:a16="http://schemas.microsoft.com/office/drawing/2014/main" id="{1589802C-7AC3-4A3C-8FC9-F50870A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67150"/>
            <a:ext cx="60198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4" name="problem-card-3-title">
            <a:extLst xmlns:a="http://schemas.openxmlformats.org/drawingml/2006/main">
              <a:ext uri="{FF2B5EF4-FFF2-40B4-BE49-F238E27FC236}">
                <a16:creationId xmlns:a16="http://schemas.microsoft.com/office/drawing/2014/main" id="{B7D60479-0170-411A-8B78-1D4343C0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567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探し直せない</a:t>
            </a:r>
          </a:p>
        </p:txBody>
      </p:sp>
      <p:sp>
        <p:nvSpPr>
          <p:cNvPr id="15" name="problem-card-3-body">
            <a:extLst xmlns:a="http://schemas.openxmlformats.org/drawingml/2006/main">
              <a:ext uri="{FF2B5EF4-FFF2-40B4-BE49-F238E27FC236}">
                <a16:creationId xmlns:a16="http://schemas.microsoft.com/office/drawing/2014/main" id="{54B63095-4443-4DFF-841C-DDB9428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00550"/>
            <a:ext cx="567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出来事が点で散らばると、自分史として振り返りづらくなる。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4A490C9-0239-4CF4-B2C4-73B234F5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35B6A56-0C35-41D2-965D-9D657253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Source: メモリルLP copy and product positioning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B6688D-83E4-4155-BF7D-3F358E9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56657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D59250D-E6D7-44F7-8DCF-D04AA3B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C9390D9-F454-4448-92AC-35CB706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2A2AA31A-176A-4C4C-85BE-3C41FBF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3214618-E447-43EE-91BF-6D9FDC9D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85850"/>
            <a:ext cx="4114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メモリルは、会話を</a:t>
            </a:r>
          </a:p>
          <a:p xmlns:a="http://schemas.openxmlformats.org/drawingml/2006/main">
            <a:pPr algn="l">
              <a:defRPr sz="31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“使える記憶”に変える</a:t>
            </a:r>
          </a:p>
        </p:txBody>
      </p:sp>
      <p:sp>
        <p:nvSpPr>
          <p:cNvPr id="5" name="workflow-note">
            <a:extLst xmlns:a="http://schemas.openxmlformats.org/drawingml/2006/main">
              <a:ext uri="{FF2B5EF4-FFF2-40B4-BE49-F238E27FC236}">
                <a16:creationId xmlns:a16="http://schemas.microsoft.com/office/drawing/2014/main" id="{B54BD6BE-67C3-4FC7-B81A-739CABD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会話のしやすさはそのままに、</a:t>
            </a:r>
          </a:p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あとから振り返れる構造へ変換します。</a:t>
            </a:r>
          </a:p>
        </p:txBody>
      </p:sp>
      <p:sp>
        <p:nvSpPr>
          <p:cNvPr id="6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B7CE513B-7587-4222-8D97-B4C801C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390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7" name="workflow-step-1-title">
            <a:extLst xmlns:a="http://schemas.openxmlformats.org/drawingml/2006/main">
              <a:ext uri="{FF2B5EF4-FFF2-40B4-BE49-F238E27FC236}">
                <a16:creationId xmlns:a16="http://schemas.microsoft.com/office/drawing/2014/main" id="{2290B7FA-D74B-423C-8F56-6811318B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01 話す</a:t>
            </a:r>
          </a:p>
        </p:txBody>
      </p:sp>
      <p:sp>
        <p:nvSpPr>
          <p:cNvPr id="8" name="workflow-step-1-body">
            <a:extLst xmlns:a="http://schemas.openxmlformats.org/drawingml/2006/main">
              <a:ext uri="{FF2B5EF4-FFF2-40B4-BE49-F238E27FC236}">
                <a16:creationId xmlns:a16="http://schemas.microsoft.com/office/drawing/2014/main" id="{DB8E452E-8960-4EDB-ACF5-EA452D6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その日の出来事や感情を自然な言葉で残す。</a:t>
            </a:r>
          </a:p>
        </p:txBody>
      </p:sp>
      <p:sp>
        <p:nvSpPr>
          <p:cNvPr id="9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47479D56-BB61-4000-A43B-E662C131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3390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2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0" name="workflow-step-2-title">
            <a:extLst xmlns:a="http://schemas.openxmlformats.org/drawingml/2006/main">
              <a:ext uri="{FF2B5EF4-FFF2-40B4-BE49-F238E27FC236}">
                <a16:creationId xmlns:a16="http://schemas.microsoft.com/office/drawing/2014/main" id="{2E0E663A-058D-448B-B771-06BD9B6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02 構造化する</a:t>
            </a:r>
          </a:p>
        </p:txBody>
      </p:sp>
      <p:sp>
        <p:nvSpPr>
          <p:cNvPr id="11" name="workflow-step-2-body">
            <a:extLst xmlns:a="http://schemas.openxmlformats.org/drawingml/2006/main">
              <a:ext uri="{FF2B5EF4-FFF2-40B4-BE49-F238E27FC236}">
                <a16:creationId xmlns:a16="http://schemas.microsoft.com/office/drawing/2014/main" id="{C12FECCA-1424-4522-A063-F4723EF2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AIが感情や年代を整理する。</a:t>
            </a:r>
          </a:p>
        </p:txBody>
      </p:sp>
      <p:sp>
        <p:nvSpPr>
          <p:cNvPr id="12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0F16E72C-FED6-4B21-BA32-C9D32379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3390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3" name="workflow-step-3-title">
            <a:extLst xmlns:a="http://schemas.openxmlformats.org/drawingml/2006/main">
              <a:ext uri="{FF2B5EF4-FFF2-40B4-BE49-F238E27FC236}">
                <a16:creationId xmlns:a16="http://schemas.microsoft.com/office/drawing/2014/main" id="{22E81202-E87A-481F-8928-D0B6B5CC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03 探索する</a:t>
            </a:r>
          </a:p>
        </p:txBody>
      </p:sp>
      <p:sp>
        <p:nvSpPr>
          <p:cNvPr id="14" name="workflow-step-3-body">
            <a:extLst xmlns:a="http://schemas.openxmlformats.org/drawingml/2006/main">
              <a:ext uri="{FF2B5EF4-FFF2-40B4-BE49-F238E27FC236}">
                <a16:creationId xmlns:a16="http://schemas.microsoft.com/office/drawing/2014/main" id="{D4FE5235-A381-468C-AEA6-0D622FFD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後から振り返り、将来のAI活用へつなげる。</a:t>
            </a:r>
          </a:p>
        </p:txBody>
      </p:sp>
      <p:sp>
        <p:nvSpPr>
          <p:cNvPr id="15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7354E36-30E0-45B8-AD69-762E26B0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838200"/>
            <a:ext cx="6572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2"/>
          </a:solidFill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5fb875bdf4a4d"/>
          <a:srcRect xmlns:a="http://schemas.openxmlformats.org/drawingml/2006/main" l="6271" t="0" r="6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971550"/>
            <a:ext cx="6305550" cy="4057650"/>
          </a:xfrm>
          <a:prstGeom xmlns:a="http://schemas.openxmlformats.org/drawingml/2006/main" prst="rect">
            <a:avLst/>
          </a:prstGeom>
        </p:spPr>
      </p:pic>
      <p:sp>
        <p:nvSpPr>
          <p:cNvPr id="17" name="screen-label-bg">
            <a:extLst xmlns:a="http://schemas.openxmlformats.org/drawingml/2006/main">
              <a:ext uri="{FF2B5EF4-FFF2-40B4-BE49-F238E27FC236}">
                <a16:creationId xmlns:a16="http://schemas.microsoft.com/office/drawing/2014/main" id="{C31B513E-7C19-403B-84D7-FE0B4F4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435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8"/>
          </a:solidFill>
          <a:ln xmlns:a="http://schemas.openxmlformats.org/drawingml/2006/main" w="0">
            <a:solidFill>
              <a:srgbClr val="B9CAD8"/>
            </a:solidFill>
            <a:prstDash val="solid"/>
          </a:ln>
        </p:spPr>
      </p:sp>
      <p:sp>
        <p:nvSpPr>
          <p:cNvPr id="18" name="screen-label">
            <a:extLst xmlns:a="http://schemas.openxmlformats.org/drawingml/2006/main">
              <a:ext uri="{FF2B5EF4-FFF2-40B4-BE49-F238E27FC236}">
                <a16:creationId xmlns:a16="http://schemas.microsoft.com/office/drawing/2014/main" id="{46C73978-2AFD-4CAA-B339-CC2744B8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625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32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1321"/>
                </a:solidFill>
                <a:latin typeface="Aptos"/>
                <a:ea typeface="Aptos"/>
                <a:cs typeface="Aptos"/>
              </a:rPr>
              <a:t>Concept visual</a:t>
            </a:r>
          </a:p>
        </p:txBody>
      </p:sp>
      <p:sp>
        <p:nvSpPr>
          <p:cNvPr id="19" name="attr-1">
            <a:extLst xmlns:a="http://schemas.openxmlformats.org/drawingml/2006/main">
              <a:ext uri="{FF2B5EF4-FFF2-40B4-BE49-F238E27FC236}">
                <a16:creationId xmlns:a16="http://schemas.microsoft.com/office/drawing/2014/main" id="{7952501B-6E1F-4D5A-B509-C376AA83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102032"/>
            </a:solidFill>
            <a:prstDash val="solid"/>
          </a:ln>
        </p:spPr>
      </p:sp>
      <p:sp>
        <p:nvSpPr>
          <p:cNvPr id="20" name="attr-1-text">
            <a:extLst xmlns:a="http://schemas.openxmlformats.org/drawingml/2006/main">
              <a:ext uri="{FF2B5EF4-FFF2-40B4-BE49-F238E27FC236}">
                <a16:creationId xmlns:a16="http://schemas.microsoft.com/office/drawing/2014/main" id="{47098A32-5581-4B01-BA61-D2ED6F5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57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感情</a:t>
            </a:r>
          </a:p>
        </p:txBody>
      </p:sp>
      <p:sp>
        <p:nvSpPr>
          <p:cNvPr id="21" name="attr-2">
            <a:extLst xmlns:a="http://schemas.openxmlformats.org/drawingml/2006/main">
              <a:ext uri="{FF2B5EF4-FFF2-40B4-BE49-F238E27FC236}">
                <a16:creationId xmlns:a16="http://schemas.microsoft.com/office/drawing/2014/main" id="{5EDF539C-7BBC-4034-80D6-78CBB85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197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102032"/>
            </a:solidFill>
            <a:prstDash val="solid"/>
          </a:ln>
        </p:spPr>
      </p:sp>
      <p:sp>
        <p:nvSpPr>
          <p:cNvPr id="22" name="attr-2-text">
            <a:extLst xmlns:a="http://schemas.openxmlformats.org/drawingml/2006/main">
              <a:ext uri="{FF2B5EF4-FFF2-40B4-BE49-F238E27FC236}">
                <a16:creationId xmlns:a16="http://schemas.microsoft.com/office/drawing/2014/main" id="{919B87E0-AAC7-4688-9D73-6C4DC12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57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年代</a:t>
            </a:r>
          </a:p>
        </p:txBody>
      </p:sp>
      <p:sp>
        <p:nvSpPr>
          <p:cNvPr id="23" name="attr-3">
            <a:extLst xmlns:a="http://schemas.openxmlformats.org/drawingml/2006/main">
              <a:ext uri="{FF2B5EF4-FFF2-40B4-BE49-F238E27FC236}">
                <a16:creationId xmlns:a16="http://schemas.microsoft.com/office/drawing/2014/main" id="{322AF4EA-5925-4EBD-A509-B3D469A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19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102032"/>
            </a:solidFill>
            <a:prstDash val="solid"/>
          </a:ln>
        </p:spPr>
      </p:sp>
      <p:sp>
        <p:nvSpPr>
          <p:cNvPr id="24" name="attr-3-text">
            <a:extLst xmlns:a="http://schemas.openxmlformats.org/drawingml/2006/main">
              <a:ext uri="{FF2B5EF4-FFF2-40B4-BE49-F238E27FC236}">
                <a16:creationId xmlns:a16="http://schemas.microsoft.com/office/drawing/2014/main" id="{EC9B5E38-7103-416D-B08A-AC46FEE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578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カテゴリ</a:t>
            </a:r>
          </a:p>
        </p:txBody>
      </p:sp>
      <p:sp>
        <p:nvSpPr>
          <p:cNvPr id="25" name="attr-4">
            <a:extLst xmlns:a="http://schemas.openxmlformats.org/drawingml/2006/main">
              <a:ext uri="{FF2B5EF4-FFF2-40B4-BE49-F238E27FC236}">
                <a16:creationId xmlns:a16="http://schemas.microsoft.com/office/drawing/2014/main" id="{74671A33-FB24-4488-BF34-B0DF00C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197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102032"/>
            </a:solidFill>
            <a:prstDash val="solid"/>
          </a:ln>
        </p:spPr>
      </p:sp>
      <p:sp>
        <p:nvSpPr>
          <p:cNvPr id="26" name="attr-4-text">
            <a:extLst xmlns:a="http://schemas.openxmlformats.org/drawingml/2006/main">
              <a:ext uri="{FF2B5EF4-FFF2-40B4-BE49-F238E27FC236}">
                <a16:creationId xmlns:a16="http://schemas.microsoft.com/office/drawing/2014/main" id="{BDAB4810-DF55-4BD2-8734-16F111EC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578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タグ</a:t>
            </a:r>
          </a:p>
        </p:txBody>
      </p:sp>
      <p:sp>
        <p:nvSpPr>
          <p:cNvPr id="27" name="attr-5">
            <a:extLst xmlns:a="http://schemas.openxmlformats.org/drawingml/2006/main">
              <a:ext uri="{FF2B5EF4-FFF2-40B4-BE49-F238E27FC236}">
                <a16:creationId xmlns:a16="http://schemas.microsoft.com/office/drawing/2014/main" id="{90E06594-57C6-4A3F-9407-FC97344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102032"/>
            </a:solidFill>
            <a:prstDash val="solid"/>
          </a:ln>
        </p:spPr>
      </p:sp>
      <p:sp>
        <p:nvSpPr>
          <p:cNvPr id="28" name="attr-5-text">
            <a:extLst xmlns:a="http://schemas.openxmlformats.org/drawingml/2006/main">
              <a:ext uri="{FF2B5EF4-FFF2-40B4-BE49-F238E27FC236}">
                <a16:creationId xmlns:a16="http://schemas.microsoft.com/office/drawing/2014/main" id="{7222FC64-906D-4457-8F8A-489A356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57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秘匿設定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8A09416-D9E3-4E67-80C9-31A5E243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3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4A46C98-42D8-48F9-9DB1-9FFB5F0E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Source: memory-space設計 / API契約 / generated workflow visual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6079BA-C7A9-49F0-8C7B-B4CC426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38937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A5C57DE-C3AE-476D-82EB-9FC4578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83F1BF9C-D9C9-49D9-B2BF-494F2643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8"/>
          </a:solidFill>
          <a:ln xmlns:a="http://schemas.openxmlformats.org/drawingml/2006/main" w="0">
            <a:solidFill>
              <a:srgbClr val="B9CAD8"/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1556942-178C-4D3A-BE11-42E68DD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PRODUCT EXPERIENCE</a:t>
            </a:r>
          </a:p>
        </p:txBody>
      </p:sp>
      <p:sp>
        <p:nvSpPr>
          <p:cNvPr id="4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C2FA1543-D507-44C7-AB67-B6293DC3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4000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DF9"/>
                </a:solidFill>
                <a:latin typeface="Aptos Display"/>
                <a:ea typeface="Aptos Display"/>
                <a:cs typeface="Aptos Display"/>
              </a:rPr>
              <a:t>一覧でなく、記憶の宇宙として振り返れる</a:t>
            </a:r>
          </a:p>
        </p:txBody>
      </p:sp>
      <p:sp>
        <p:nvSpPr>
          <p:cNvPr id="5" name="experience-note">
            <a:extLst xmlns:a="http://schemas.openxmlformats.org/drawingml/2006/main">
              <a:ext uri="{FF2B5EF4-FFF2-40B4-BE49-F238E27FC236}">
                <a16:creationId xmlns:a16="http://schemas.microsoft.com/office/drawing/2014/main" id="{F467061D-4A3F-4A6D-BAA8-659F312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E7E1"/>
                </a:solidFill>
                <a:latin typeface="Aptos"/>
                <a:ea typeface="Aptos"/>
                <a:cs typeface="Aptos"/>
              </a:rPr>
              <a:t>大カテゴリから1つの記憶まで、</a:t>
            </a:r>
          </a:p>
          <a:p xmlns:a="http://schemas.openxmlformats.org/drawingml/2006/main">
            <a:pPr algn="l">
              <a:defRPr sz="1350" b="0">
                <a:solidFill>
                  <a:srgbClr val="E9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E7E1"/>
                </a:solidFill>
                <a:latin typeface="Aptos"/>
                <a:ea typeface="Aptos"/>
                <a:cs typeface="Aptos"/>
              </a:rPr>
              <a:t>ズームしながら自分史をたどれる体験です。</a:t>
            </a:r>
          </a:p>
        </p:txBody>
      </p:sp>
      <p:sp>
        <p:nvSpPr>
          <p:cNvPr id="6" name="experience-rule">
            <a:extLst xmlns:a="http://schemas.openxmlformats.org/drawingml/2006/main">
              <a:ext uri="{FF2B5EF4-FFF2-40B4-BE49-F238E27FC236}">
                <a16:creationId xmlns:a16="http://schemas.microsoft.com/office/drawing/2014/main" id="{85B378A9-666B-48FE-9AF9-461B356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8"/>
          </a:solidFill>
          <a:ln xmlns:a="http://schemas.openxmlformats.org/drawingml/2006/main" w="0">
            <a:solidFill>
              <a:srgbClr val="B9CAD8"/>
            </a:solidFill>
            <a:prstDash val="solid"/>
          </a:ln>
        </p:spPr>
      </p:sp>
      <p:sp>
        <p:nvSpPr>
          <p:cNvPr id="7" name="xp-1">
            <a:extLst xmlns:a="http://schemas.openxmlformats.org/drawingml/2006/main">
              <a:ext uri="{FF2B5EF4-FFF2-40B4-BE49-F238E27FC236}">
                <a16:creationId xmlns:a16="http://schemas.microsoft.com/office/drawing/2014/main" id="{22711536-134C-4C76-841E-174125FD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E7E1"/>
                </a:solidFill>
                <a:latin typeface="Aptos"/>
                <a:ea typeface="Aptos"/>
                <a:cs typeface="Aptos"/>
              </a:rPr>
              <a:t>01  カテゴリが星団としてまとまる</a:t>
            </a:r>
          </a:p>
        </p:txBody>
      </p:sp>
      <p:sp>
        <p:nvSpPr>
          <p:cNvPr id="8" name="xp-2">
            <a:extLst xmlns:a="http://schemas.openxmlformats.org/drawingml/2006/main">
              <a:ext uri="{FF2B5EF4-FFF2-40B4-BE49-F238E27FC236}">
                <a16:creationId xmlns:a16="http://schemas.microsoft.com/office/drawing/2014/main" id="{4B0C8EAE-2E5F-4148-BF0B-624D5C6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E7E1"/>
                </a:solidFill>
                <a:latin typeface="Aptos"/>
                <a:ea typeface="Aptos"/>
                <a:cs typeface="Aptos"/>
              </a:rPr>
              <a:t>02  感情が色で浮かび上がる</a:t>
            </a:r>
          </a:p>
        </p:txBody>
      </p:sp>
      <p:sp>
        <p:nvSpPr>
          <p:cNvPr id="9" name="xp-3">
            <a:extLst xmlns:a="http://schemas.openxmlformats.org/drawingml/2006/main">
              <a:ext uri="{FF2B5EF4-FFF2-40B4-BE49-F238E27FC236}">
                <a16:creationId xmlns:a16="http://schemas.microsoft.com/office/drawing/2014/main" id="{482FEF8A-3EC0-4864-B225-B0C33A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7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E7E1"/>
                </a:solidFill>
                <a:latin typeface="Aptos"/>
                <a:ea typeface="Aptos"/>
                <a:cs typeface="Aptos"/>
              </a:rPr>
              <a:t>03  俯瞰と深掘りを往復できる</a:t>
            </a:r>
          </a:p>
        </p:txBody>
      </p:sp>
      <p:sp>
        <p:nvSpPr>
          <p:cNvPr id="10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2797837-45F7-48D6-B235-4813A13F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14400"/>
            <a:ext cx="65341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2"/>
          </a:solidFill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96b68197d4c59"/>
          <a:srcRect xmlns:a="http://schemas.openxmlformats.org/drawingml/2006/main" l="9769" t="0" r="97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047750"/>
            <a:ext cx="6267450" cy="4381500"/>
          </a:xfrm>
          <a:prstGeom xmlns:a="http://schemas.openxmlformats.org/drawingml/2006/main" prst="rect">
            <a:avLst/>
          </a:prstGeom>
        </p:spPr>
      </p:pic>
      <p:sp>
        <p:nvSpPr>
          <p:cNvPr id="12" name="screen-label-bg">
            <a:extLst xmlns:a="http://schemas.openxmlformats.org/drawingml/2006/main">
              <a:ext uri="{FF2B5EF4-FFF2-40B4-BE49-F238E27FC236}">
                <a16:creationId xmlns:a16="http://schemas.microsoft.com/office/drawing/2014/main" id="{1AE4F7E1-60E6-4CF8-85FF-4C72221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435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8"/>
          </a:solidFill>
          <a:ln xmlns:a="http://schemas.openxmlformats.org/drawingml/2006/main" w="0">
            <a:solidFill>
              <a:srgbClr val="B9CAD8"/>
            </a:solidFill>
            <a:prstDash val="solid"/>
          </a:ln>
        </p:spPr>
      </p:sp>
      <p:sp>
        <p:nvSpPr>
          <p:cNvPr id="13" name="screen-label">
            <a:extLst xmlns:a="http://schemas.openxmlformats.org/drawingml/2006/main">
              <a:ext uri="{FF2B5EF4-FFF2-40B4-BE49-F238E27FC236}">
                <a16:creationId xmlns:a16="http://schemas.microsoft.com/office/drawing/2014/main" id="{1652E68E-176C-4640-A0E7-ED661F0A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626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32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1321"/>
                </a:solidFill>
                <a:latin typeface="Aptos"/>
                <a:ea typeface="Aptos"/>
                <a:cs typeface="Aptos"/>
              </a:rPr>
              <a:t>Actual product screen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8B4CCE-1B0B-475B-A874-D64EFB2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4"/>
          </a:solidFill>
          <a:ln xmlns:a="http://schemas.openxmlformats.org/drawingml/2006/main" w="0">
            <a:solidFill>
              <a:srgbClr val="314054"/>
            </a:solidFill>
            <a:prstDash val="solid"/>
          </a:ln>
        </p:spPr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D810399-C04B-4253-A66F-407A5C5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5C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5C3"/>
                </a:solidFill>
                <a:latin typeface="Aptos"/>
                <a:ea typeface="Aptos"/>
                <a:cs typeface="Aptos"/>
              </a:rPr>
              <a:t>Source: local memory-space screen and architecture design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C373E2-166F-461A-AA0B-CA328B3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DF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1494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19e1325bb4f33"/>
          <a:srcRect xmlns:a="http://schemas.openxmlformats.org/drawingml/2006/main" l="20128" t="0" r="20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privacy-panel">
            <a:extLst xmlns:a="http://schemas.openxmlformats.org/drawingml/2006/main">
              <a:ext uri="{FF2B5EF4-FFF2-40B4-BE49-F238E27FC236}">
                <a16:creationId xmlns:a16="http://schemas.microsoft.com/office/drawing/2014/main" id="{633D90B7-88C8-475B-A2C7-F1E86FBB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 w="0">
            <a:solidFill>
              <a:srgbClr val="F7F1EA"/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0992848C-EA89-414F-BD68-7B4A0198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05B155A8-3D4D-4691-B96D-BEC3687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PRIVACY BY DESIGN</a:t>
            </a:r>
          </a:p>
        </p:txBody>
      </p:sp>
      <p:sp>
        <p:nvSpPr>
          <p:cNvPr id="5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BDA3AB80-7586-41FB-9F0F-125C5D6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4095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見せたくない記憶は、</a:t>
            </a:r>
          </a:p>
          <a:p xmlns:a="http://schemas.openxmlformats.org/drawingml/2006/main">
            <a:pPr algn="l">
              <a:def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最初から別導線で保護</a:t>
            </a:r>
          </a:p>
        </p:txBody>
      </p:sp>
      <p:sp>
        <p:nvSpPr>
          <p:cNvPr id="6" name="privacy-note">
            <a:extLst xmlns:a="http://schemas.openxmlformats.org/drawingml/2006/main">
              <a:ext uri="{FF2B5EF4-FFF2-40B4-BE49-F238E27FC236}">
                <a16:creationId xmlns:a16="http://schemas.microsoft.com/office/drawing/2014/main" id="{BFDD804C-267F-4C6F-901E-C47C1B2D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書けるけれど、見せなくていい。</a:t>
            </a:r>
          </a:p>
          <a:p xmlns:a="http://schemas.openxmlformats.org/drawingml/2006/main">
            <a:pPr algn="l">
              <a:defRPr sz="13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その前提をUXと認可フローで担保します。</a:t>
            </a:r>
          </a:p>
        </p:txBody>
      </p:sp>
      <p:sp>
        <p:nvSpPr>
          <p:cNvPr id="7" name="privacy-chip-1">
            <a:extLst xmlns:a="http://schemas.openxmlformats.org/drawingml/2006/main">
              <a:ext uri="{FF2B5EF4-FFF2-40B4-BE49-F238E27FC236}">
                <a16:creationId xmlns:a16="http://schemas.microsoft.com/office/drawing/2014/main" id="{9C7BBF50-39C1-425C-84D7-57D1958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8" name="privacy-chip-1-text">
            <a:extLst xmlns:a="http://schemas.openxmlformats.org/drawingml/2006/main">
              <a:ext uri="{FF2B5EF4-FFF2-40B4-BE49-F238E27FC236}">
                <a16:creationId xmlns:a16="http://schemas.microsoft.com/office/drawing/2014/main" id="{84A8617F-1E7C-4F20-AE3C-726E5F2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通常記憶とsecret記憶を混在させない</a:t>
            </a:r>
          </a:p>
        </p:txBody>
      </p:sp>
      <p:sp>
        <p:nvSpPr>
          <p:cNvPr id="9" name="privacy-chip-2">
            <a:extLst xmlns:a="http://schemas.openxmlformats.org/drawingml/2006/main">
              <a:ext uri="{FF2B5EF4-FFF2-40B4-BE49-F238E27FC236}">
                <a16:creationId xmlns:a16="http://schemas.microsoft.com/office/drawing/2014/main" id="{8D0D55DF-7973-4436-85DA-AD37A5A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10" name="privacy-chip-2-text">
            <a:extLst xmlns:a="http://schemas.openxmlformats.org/drawingml/2006/main">
              <a:ext uri="{FF2B5EF4-FFF2-40B4-BE49-F238E27FC236}">
                <a16:creationId xmlns:a16="http://schemas.microsoft.com/office/drawing/2014/main" id="{F1A61C94-8170-4A0D-963F-9A6D43A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専用アンロック時だけ表示</a:t>
            </a:r>
          </a:p>
        </p:txBody>
      </p:sp>
      <p:sp>
        <p:nvSpPr>
          <p:cNvPr id="11" name="privacy-chip-3">
            <a:extLst xmlns:a="http://schemas.openxmlformats.org/drawingml/2006/main">
              <a:ext uri="{FF2B5EF4-FFF2-40B4-BE49-F238E27FC236}">
                <a16:creationId xmlns:a16="http://schemas.microsoft.com/office/drawing/2014/main" id="{E08BA4F5-6B98-4936-8C5F-26E60588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CCDBB"/>
            </a:solidFill>
            <a:prstDash val="solid"/>
          </a:ln>
        </p:spPr>
      </p:sp>
      <p:sp>
        <p:nvSpPr>
          <p:cNvPr id="12" name="privacy-chip-3-text">
            <a:extLst xmlns:a="http://schemas.openxmlformats.org/drawingml/2006/main">
              <a:ext uri="{FF2B5EF4-FFF2-40B4-BE49-F238E27FC236}">
                <a16:creationId xmlns:a16="http://schemas.microsoft.com/office/drawing/2014/main" id="{5CD28E13-66C0-454C-98F5-2F55D1A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アカウントとは別の保護フロー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0DBA4E-6932-4611-9CDA-68D5946D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1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ACFF6D1-23AE-4E01-9FAA-CC4F42F2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Source: secret unlock design / API contract / generated privacy visual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422DF8-9366-476E-A0AA-FB5FE60B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8734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7A4687D-ADA7-46DF-AD7D-EB2ACE6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B1B7B82C-5F1A-4131-93BF-6CFBC57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8DF2C81-D59D-4135-995D-05711B3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CLIENT VALUE</a:t>
            </a:r>
          </a:p>
        </p:txBody>
      </p:sp>
      <p:sp>
        <p:nvSpPr>
          <p:cNvPr id="4" name="value-title">
            <a:extLst xmlns:a="http://schemas.openxmlformats.org/drawingml/2006/main">
              <a:ext uri="{FF2B5EF4-FFF2-40B4-BE49-F238E27FC236}">
                <a16:creationId xmlns:a16="http://schemas.microsoft.com/office/drawing/2014/main" id="{C4394430-2121-4028-9225-701FA991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記録アプリではなく、</a:t>
            </a:r>
          </a:p>
          <a:p xmlns:a="http://schemas.openxmlformats.org/drawingml/2006/main">
            <a:pPr algn="l">
              <a:def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自己理解を深める基盤になる</a:t>
            </a:r>
          </a:p>
        </p:txBody>
      </p:sp>
      <p:sp>
        <p:nvSpPr>
          <p:cNvPr id="5" name="value-note">
            <a:extLst xmlns:a="http://schemas.openxmlformats.org/drawingml/2006/main">
              <a:ext uri="{FF2B5EF4-FFF2-40B4-BE49-F238E27FC236}">
                <a16:creationId xmlns:a16="http://schemas.microsoft.com/office/drawing/2014/main" id="{CA51776C-8730-45FE-B6DF-4BA7FBC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継続しやすい入力、あとで見返しやすい構造、</a:t>
            </a:r>
          </a:p>
          <a:p xmlns:a="http://schemas.openxmlformats.org/drawingml/2006/main">
            <a:pPr algn="l">
              <a:defRPr sz="127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そして将来の分身AIへつながる一次データが価値になります。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4403F7E-F51E-4E75-AE46-B585BD0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819150"/>
            <a:ext cx="4038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2"/>
          </a:solidFill>
          <a:ln xmlns:a="http://schemas.openxmlformats.org/drawingml/2006/main" w="9525">
            <a:solidFill>
              <a:srgbClr val="B9CAD8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e41fc312c4a53"/>
          <a:srcRect xmlns:a="http://schemas.openxmlformats.org/drawingml/2006/main" l="0" t="8720" r="0" b="8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952500"/>
            <a:ext cx="3771900" cy="1752600"/>
          </a:xfrm>
          <a:prstGeom xmlns:a="http://schemas.openxmlformats.org/drawingml/2006/main" prst="rect">
            <a:avLst/>
          </a:prstGeom>
        </p:spPr>
      </p:pic>
      <p:sp>
        <p:nvSpPr>
          <p:cNvPr id="8" name="screen-label-bg">
            <a:extLst xmlns:a="http://schemas.openxmlformats.org/drawingml/2006/main">
              <a:ext uri="{FF2B5EF4-FFF2-40B4-BE49-F238E27FC236}">
                <a16:creationId xmlns:a16="http://schemas.microsoft.com/office/drawing/2014/main" id="{3580DB74-2524-4E83-B7C5-6A5951D7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8"/>
          </a:solidFill>
          <a:ln xmlns:a="http://schemas.openxmlformats.org/drawingml/2006/main" w="0">
            <a:solidFill>
              <a:srgbClr val="B9CAD8"/>
            </a:solidFill>
            <a:prstDash val="solid"/>
          </a:ln>
        </p:spPr>
      </p:sp>
      <p:sp>
        <p:nvSpPr>
          <p:cNvPr id="9" name="screen-label">
            <a:extLst xmlns:a="http://schemas.openxmlformats.org/drawingml/2006/main">
              <a:ext uri="{FF2B5EF4-FFF2-40B4-BE49-F238E27FC236}">
                <a16:creationId xmlns:a16="http://schemas.microsoft.com/office/drawing/2014/main" id="{ED4315A4-1EAF-4CAC-829B-A79CE5AE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32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1321"/>
                </a:solidFill>
                <a:latin typeface="Aptos"/>
                <a:ea typeface="Aptos"/>
                <a:cs typeface="Aptos"/>
              </a:rPr>
              <a:t>Future vision</a:t>
            </a:r>
          </a:p>
        </p:txBody>
      </p:sp>
      <p:sp>
        <p:nvSpPr>
          <p:cNvPr id="10" name="value-card-1">
            <a:extLst xmlns:a="http://schemas.openxmlformats.org/drawingml/2006/main">
              <a:ext uri="{FF2B5EF4-FFF2-40B4-BE49-F238E27FC236}">
                <a16:creationId xmlns:a16="http://schemas.microsoft.com/office/drawing/2014/main" id="{8D6B68AA-CE6E-4849-8CF4-5464C137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1" name="value-card-1-title">
            <a:extLst xmlns:a="http://schemas.openxmlformats.org/drawingml/2006/main">
              <a:ext uri="{FF2B5EF4-FFF2-40B4-BE49-F238E27FC236}">
                <a16:creationId xmlns:a16="http://schemas.microsoft.com/office/drawing/2014/main" id="{211C4338-BD6B-4B61-91A8-8127439B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振り返り支援</a:t>
            </a:r>
          </a:p>
        </p:txBody>
      </p:sp>
      <p:sp>
        <p:nvSpPr>
          <p:cNvPr id="12" name="value-card-1-body">
            <a:extLst xmlns:a="http://schemas.openxmlformats.org/drawingml/2006/main">
              <a:ext uri="{FF2B5EF4-FFF2-40B4-BE49-F238E27FC236}">
                <a16:creationId xmlns:a16="http://schemas.microsoft.com/office/drawing/2014/main" id="{CB1FC63F-C8B8-403F-A618-6B98FD5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過去の自分を、出来事だけでなく感情ごとたどれる。</a:t>
            </a:r>
          </a:p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自己理解や内省の質が上がる。</a:t>
            </a:r>
          </a:p>
        </p:txBody>
      </p:sp>
      <p:sp>
        <p:nvSpPr>
          <p:cNvPr id="13" name="value-card-2">
            <a:extLst xmlns:a="http://schemas.openxmlformats.org/drawingml/2006/main">
              <a:ext uri="{FF2B5EF4-FFF2-40B4-BE49-F238E27FC236}">
                <a16:creationId xmlns:a16="http://schemas.microsoft.com/office/drawing/2014/main" id="{EEEF6865-1F82-4CC0-B71D-A2DEAAE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2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4" name="value-card-2-title">
            <a:extLst xmlns:a="http://schemas.openxmlformats.org/drawingml/2006/main">
              <a:ext uri="{FF2B5EF4-FFF2-40B4-BE49-F238E27FC236}">
                <a16:creationId xmlns:a16="http://schemas.microsoft.com/office/drawing/2014/main" id="{CCB4A210-C5E9-440D-95CE-7557687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継続しやすい記録</a:t>
            </a:r>
          </a:p>
        </p:txBody>
      </p:sp>
      <p:sp>
        <p:nvSpPr>
          <p:cNvPr id="15" name="value-card-2-body">
            <a:extLst xmlns:a="http://schemas.openxmlformats.org/drawingml/2006/main">
              <a:ext uri="{FF2B5EF4-FFF2-40B4-BE49-F238E27FC236}">
                <a16:creationId xmlns:a16="http://schemas.microsoft.com/office/drawing/2014/main" id="{46DEB0CB-D00F-4066-AC04-7E78280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書くより話すことに近い体験なので、日記より習慣化しやすい。</a:t>
            </a:r>
          </a:p>
        </p:txBody>
      </p:sp>
      <p:sp>
        <p:nvSpPr>
          <p:cNvPr id="16" name="value-card-3">
            <a:extLst xmlns:a="http://schemas.openxmlformats.org/drawingml/2006/main">
              <a:ext uri="{FF2B5EF4-FFF2-40B4-BE49-F238E27FC236}">
                <a16:creationId xmlns:a16="http://schemas.microsoft.com/office/drawing/2014/main" id="{71FC5023-3070-4C65-9397-9A5554B0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3543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9CABB"/>
            </a:solidFill>
            <a:prstDash val="solid"/>
          </a:ln>
        </p:spPr>
      </p:sp>
      <p:sp>
        <p:nvSpPr>
          <p:cNvPr id="17" name="value-card-3-title">
            <a:extLst xmlns:a="http://schemas.openxmlformats.org/drawingml/2006/main">
              <a:ext uri="{FF2B5EF4-FFF2-40B4-BE49-F238E27FC236}">
                <a16:creationId xmlns:a16="http://schemas.microsoft.com/office/drawing/2014/main" id="{2FD4C8DC-F6B2-4406-8F1A-BBB37B7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将来の分身AI基盤</a:t>
            </a:r>
          </a:p>
        </p:txBody>
      </p:sp>
      <p:sp>
        <p:nvSpPr>
          <p:cNvPr id="18" name="value-card-3-body">
            <a:extLst xmlns:a="http://schemas.openxmlformats.org/drawingml/2006/main">
              <a:ext uri="{FF2B5EF4-FFF2-40B4-BE49-F238E27FC236}">
                <a16:creationId xmlns:a16="http://schemas.microsoft.com/office/drawing/2014/main" id="{E423CCDE-25B9-4B7B-ADAB-D1705A74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3200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会話・感情・記憶の蓄積が、将来のパーソナルAI精度を支える。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5C4BBF-DF8F-40B0-92D0-D39D1BC5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27CB886-F8DC-41FA-95DD-9DE435D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Source: product concept, LP messaging, generated future visual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D6257D-33A7-4AAA-B937-329B3AE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09604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4afe9840844de"/>
          <a:srcRect xmlns:a="http://schemas.openxmlformats.org/drawingml/2006/main" l="21600" t="0" r="21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0"/>
            <a:ext cx="62484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close-panel">
            <a:extLst xmlns:a="http://schemas.openxmlformats.org/drawingml/2006/main">
              <a:ext uri="{FF2B5EF4-FFF2-40B4-BE49-F238E27FC236}">
                <a16:creationId xmlns:a16="http://schemas.microsoft.com/office/drawing/2014/main" id="{DC3AF671-F776-4BE3-9825-2E29F550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43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 w="0">
            <a:solidFill>
              <a:srgbClr val="F7F1EA"/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66BF0F14-5BDA-4FA1-A672-B8F3BD13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98B"/>
          </a:solidFill>
          <a:ln xmlns:a="http://schemas.openxmlformats.org/drawingml/2006/main" w="0">
            <a:solidFill>
              <a:srgbClr val="D8B98B"/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2AB47157-D59B-4232-8634-456C8DEE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E6258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7A53769-D495-43B1-9E5B-405FE19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4381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いま残す記憶が、</a:t>
            </a:r>
          </a:p>
          <a:p xmlns:a="http://schemas.openxmlformats.org/drawingml/2006/main">
            <a:pPr algn="l">
              <a:def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E1915"/>
                </a:solidFill>
                <a:latin typeface="Aptos Display"/>
                <a:ea typeface="Aptos Display"/>
                <a:cs typeface="Aptos Display"/>
              </a:rPr>
              <a:t>未来の分身AIを育てる</a:t>
            </a:r>
          </a:p>
        </p:txBody>
      </p:sp>
      <p:sp>
        <p:nvSpPr>
          <p:cNvPr id="6" name="close-body">
            <a:extLst xmlns:a="http://schemas.openxmlformats.org/drawingml/2006/main">
              <a:ext uri="{FF2B5EF4-FFF2-40B4-BE49-F238E27FC236}">
                <a16:creationId xmlns:a16="http://schemas.microsoft.com/office/drawing/2014/main" id="{5EE02AC7-3A4F-4588-A805-DC5AEDA0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84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メモリルは、日々の気持ちを静かに蓄積し、</a:t>
            </a:r>
          </a:p>
          <a:p xmlns:a="http://schemas.openxmlformats.org/drawingml/2006/main">
            <a:pPr algn="l">
              <a:defRPr sz="142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あとで探索できる人生データへ変えるプロダクトです。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記録 -&gt; 整理 -&gt; 探索 -&gt; 分身AI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C2CFA5-212D-4552-BDBD-9E77C1B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ABB"/>
          </a:solidFill>
          <a:ln xmlns:a="http://schemas.openxmlformats.org/drawingml/2006/main" w="0">
            <a:solidFill>
              <a:srgbClr val="D9CABB"/>
            </a:solidFill>
            <a:prstDash val="solid"/>
          </a:ln>
        </p:spPr>
      </p:sp>
      <p:sp>
        <p:nvSpPr>
          <p:cNvPr id="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0B4A6A4-EA97-48D8-B7D4-F209E6A1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6258"/>
                </a:solidFill>
                <a:latin typeface="Aptos"/>
                <a:ea typeface="Aptos"/>
                <a:cs typeface="Aptos"/>
              </a:rPr>
              <a:t>Memoriru product overview / generated closing visual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5809C8-D0E8-4C67-8ABD-F03CA0A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341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E191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191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840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2026-06-14T14:41:13.5400000Z</dcterms:created>
  <dcterms:modified xsi:type="dcterms:W3CDTF">2026-06-14T14:41:13.5400000Z</dcterms:modified>
</coreProperties>
</file>